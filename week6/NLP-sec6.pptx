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8" r:id="rId1"/>
  </p:sldMasterIdLst>
  <p:notesMasterIdLst>
    <p:notesMasterId r:id="rId16"/>
  </p:notesMasterIdLst>
  <p:sldIdLst>
    <p:sldId id="256" r:id="rId2"/>
    <p:sldId id="362" r:id="rId3"/>
    <p:sldId id="364" r:id="rId4"/>
    <p:sldId id="337" r:id="rId5"/>
    <p:sldId id="339" r:id="rId6"/>
    <p:sldId id="353" r:id="rId7"/>
    <p:sldId id="354" r:id="rId8"/>
    <p:sldId id="355" r:id="rId9"/>
    <p:sldId id="356" r:id="rId10"/>
    <p:sldId id="357" r:id="rId11"/>
    <p:sldId id="359" r:id="rId12"/>
    <p:sldId id="361" r:id="rId13"/>
    <p:sldId id="363" r:id="rId14"/>
    <p:sldId id="271" r:id="rId15"/>
  </p:sldIdLst>
  <p:sldSz cx="9144000" cy="5143500" type="screen16x9"/>
  <p:notesSz cx="6858000" cy="9144000"/>
  <p:embeddedFontLst>
    <p:embeddedFont>
      <p:font typeface="Inconsolata" pitchFamily="1" charset="0"/>
      <p:regular r:id="rId17"/>
      <p:bold r:id="rId18"/>
    </p:embeddedFont>
    <p:embeddedFont>
      <p:font typeface="Nunito" pitchFamily="2" charset="0"/>
      <p:regular r:id="rId19"/>
      <p:bold r:id="rId20"/>
      <p:italic r:id="rId21"/>
      <p:boldItalic r:id="rId22"/>
    </p:embeddedFont>
    <p:embeddedFont>
      <p:font typeface="Open Sans" panose="020B0606030504020204" pitchFamily="3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5493612-B007-4C94-AC60-28D68716844E}">
  <a:tblStyle styleId="{C5493612-B007-4C94-AC60-28D68716844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f2a4424586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f2a4424586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25242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28403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f2a4424a71_0_7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Google Shape;594;gf2a4424a71_0_7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495626"/>
            <a:ext cx="5408700" cy="284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Font typeface="Inconsolata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Font typeface="Inconsolata"/>
              <a:buNone/>
              <a:defRPr sz="5200">
                <a:latin typeface="Inconsolata"/>
                <a:ea typeface="Inconsolata"/>
                <a:cs typeface="Inconsolata"/>
                <a:sym typeface="Inconsolat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Font typeface="Inconsolata"/>
              <a:buNone/>
              <a:defRPr sz="5200">
                <a:latin typeface="Inconsolata"/>
                <a:ea typeface="Inconsolata"/>
                <a:cs typeface="Inconsolata"/>
                <a:sym typeface="Inconsolat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Font typeface="Inconsolata"/>
              <a:buNone/>
              <a:defRPr sz="5200">
                <a:latin typeface="Inconsolata"/>
                <a:ea typeface="Inconsolata"/>
                <a:cs typeface="Inconsolata"/>
                <a:sym typeface="Inconsolat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Font typeface="Inconsolata"/>
              <a:buNone/>
              <a:defRPr sz="5200">
                <a:latin typeface="Inconsolata"/>
                <a:ea typeface="Inconsolata"/>
                <a:cs typeface="Inconsolata"/>
                <a:sym typeface="Inconsolat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Font typeface="Inconsolata"/>
              <a:buNone/>
              <a:defRPr sz="5200">
                <a:latin typeface="Inconsolata"/>
                <a:ea typeface="Inconsolata"/>
                <a:cs typeface="Inconsolata"/>
                <a:sym typeface="Inconsolat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Font typeface="Inconsolata"/>
              <a:buNone/>
              <a:defRPr sz="5200">
                <a:latin typeface="Inconsolata"/>
                <a:ea typeface="Inconsolata"/>
                <a:cs typeface="Inconsolata"/>
                <a:sym typeface="Inconsolat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Font typeface="Inconsolata"/>
              <a:buNone/>
              <a:defRPr sz="5200">
                <a:latin typeface="Inconsolata"/>
                <a:ea typeface="Inconsolata"/>
                <a:cs typeface="Inconsolata"/>
                <a:sym typeface="Inconsolat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Font typeface="Inconsolata"/>
              <a:buNone/>
              <a:defRPr sz="5200"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4010175"/>
            <a:ext cx="7717500" cy="59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4746650" y="953825"/>
            <a:ext cx="4516200" cy="4516200"/>
          </a:xfrm>
          <a:prstGeom prst="ellipse">
            <a:avLst/>
          </a:prstGeom>
          <a:gradFill>
            <a:gsLst>
              <a:gs pos="0">
                <a:srgbClr val="4C9484">
                  <a:alpha val="38039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5826274" y="-1017626"/>
            <a:ext cx="4310400" cy="4310400"/>
          </a:xfrm>
          <a:prstGeom prst="ellipse">
            <a:avLst/>
          </a:prstGeom>
          <a:gradFill>
            <a:gsLst>
              <a:gs pos="0">
                <a:srgbClr val="B8B9C0">
                  <a:alpha val="5921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/>
          <p:nvPr/>
        </p:nvSpPr>
        <p:spPr>
          <a:xfrm flipH="1">
            <a:off x="6309850" y="-1654300"/>
            <a:ext cx="4312500" cy="4312500"/>
          </a:xfrm>
          <a:prstGeom prst="ellipse">
            <a:avLst/>
          </a:prstGeom>
          <a:gradFill>
            <a:gsLst>
              <a:gs pos="0">
                <a:srgbClr val="44D4B4">
                  <a:alpha val="60000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ctrTitle"/>
          </p:nvPr>
        </p:nvSpPr>
        <p:spPr>
          <a:xfrm>
            <a:off x="708613" y="341525"/>
            <a:ext cx="77268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/>
          <p:nvPr/>
        </p:nvSpPr>
        <p:spPr>
          <a:xfrm flipH="1">
            <a:off x="-2165100" y="3684200"/>
            <a:ext cx="3647700" cy="3647700"/>
          </a:xfrm>
          <a:prstGeom prst="ellipse">
            <a:avLst/>
          </a:prstGeom>
          <a:gradFill>
            <a:gsLst>
              <a:gs pos="0">
                <a:srgbClr val="B8B9C0">
                  <a:alpha val="6078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1">
  <p:cSld name="TITLE_ONLY_11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>
            <a:spLocks noGrp="1"/>
          </p:cNvSpPr>
          <p:nvPr>
            <p:ph type="ctrTitle"/>
          </p:nvPr>
        </p:nvSpPr>
        <p:spPr>
          <a:xfrm>
            <a:off x="708613" y="341525"/>
            <a:ext cx="77268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30" name="Google Shape;130;p25"/>
          <p:cNvSpPr/>
          <p:nvPr/>
        </p:nvSpPr>
        <p:spPr>
          <a:xfrm rot="-1674432">
            <a:off x="-995293" y="3564341"/>
            <a:ext cx="2697841" cy="2697841"/>
          </a:xfrm>
          <a:prstGeom prst="ellipse">
            <a:avLst/>
          </a:prstGeom>
          <a:gradFill>
            <a:gsLst>
              <a:gs pos="0">
                <a:srgbClr val="44D4B4">
                  <a:alpha val="3372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25"/>
          <p:cNvSpPr/>
          <p:nvPr/>
        </p:nvSpPr>
        <p:spPr>
          <a:xfrm rot="-1674204">
            <a:off x="7853793" y="-1135948"/>
            <a:ext cx="3647575" cy="3647575"/>
          </a:xfrm>
          <a:prstGeom prst="ellipse">
            <a:avLst/>
          </a:prstGeom>
          <a:gradFill>
            <a:gsLst>
              <a:gs pos="0">
                <a:srgbClr val="B8B9C0">
                  <a:alpha val="6078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TITLE_AND_TWO_COLUMNS_1_4_1_2"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57"/>
          <p:cNvSpPr/>
          <p:nvPr/>
        </p:nvSpPr>
        <p:spPr>
          <a:xfrm flipH="1">
            <a:off x="5358100" y="297774"/>
            <a:ext cx="3271800" cy="3271800"/>
          </a:xfrm>
          <a:prstGeom prst="ellipse">
            <a:avLst/>
          </a:prstGeom>
          <a:gradFill>
            <a:gsLst>
              <a:gs pos="0">
                <a:srgbClr val="44D4B4">
                  <a:alpha val="16862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57"/>
          <p:cNvSpPr/>
          <p:nvPr/>
        </p:nvSpPr>
        <p:spPr>
          <a:xfrm>
            <a:off x="5522900" y="-2706825"/>
            <a:ext cx="6145200" cy="6145200"/>
          </a:xfrm>
          <a:prstGeom prst="ellipse">
            <a:avLst/>
          </a:prstGeom>
          <a:gradFill>
            <a:gsLst>
              <a:gs pos="0">
                <a:srgbClr val="B8B9C0">
                  <a:alpha val="6078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57"/>
          <p:cNvSpPr/>
          <p:nvPr/>
        </p:nvSpPr>
        <p:spPr>
          <a:xfrm>
            <a:off x="-972575" y="3098475"/>
            <a:ext cx="3170400" cy="3170400"/>
          </a:xfrm>
          <a:prstGeom prst="ellipse">
            <a:avLst/>
          </a:prstGeom>
          <a:gradFill>
            <a:gsLst>
              <a:gs pos="0">
                <a:srgbClr val="B8B9C0">
                  <a:alpha val="8078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/>
          <p:nvPr/>
        </p:nvSpPr>
        <p:spPr>
          <a:xfrm>
            <a:off x="5140425" y="1576275"/>
            <a:ext cx="4516200" cy="4516200"/>
          </a:xfrm>
          <a:prstGeom prst="ellipse">
            <a:avLst/>
          </a:prstGeom>
          <a:gradFill>
            <a:gsLst>
              <a:gs pos="0">
                <a:srgbClr val="44D4B4">
                  <a:alpha val="3372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8"/>
          <p:cNvSpPr/>
          <p:nvPr/>
        </p:nvSpPr>
        <p:spPr>
          <a:xfrm>
            <a:off x="-582351" y="-485301"/>
            <a:ext cx="4310400" cy="4310400"/>
          </a:xfrm>
          <a:prstGeom prst="ellipse">
            <a:avLst/>
          </a:prstGeom>
          <a:gradFill>
            <a:gsLst>
              <a:gs pos="0">
                <a:srgbClr val="B8B9C0">
                  <a:alpha val="80784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735800" y="1341400"/>
            <a:ext cx="6143100" cy="25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68121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5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33875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consolata"/>
              <a:buNone/>
              <a:defRPr sz="3600" b="1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consolata"/>
              <a:buNone/>
              <a:defRPr sz="3600" b="1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consolata"/>
              <a:buNone/>
              <a:defRPr sz="3600" b="1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consolata"/>
              <a:buNone/>
              <a:defRPr sz="3600" b="1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consolata"/>
              <a:buNone/>
              <a:defRPr sz="3600" b="1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consolata"/>
              <a:buNone/>
              <a:defRPr sz="3600" b="1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consolata"/>
              <a:buNone/>
              <a:defRPr sz="3600" b="1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consolata"/>
              <a:buNone/>
              <a:defRPr sz="3600" b="1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consolata"/>
              <a:buNone/>
              <a:defRPr sz="3600" b="1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6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  <a:defRPr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○"/>
              <a:defRPr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■"/>
              <a:defRPr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  <a:defRPr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○"/>
              <a:defRPr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■"/>
              <a:defRPr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●"/>
              <a:defRPr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○"/>
              <a:defRPr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■"/>
              <a:defRPr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71" r:id="rId3"/>
    <p:sldLayoutId id="2147483703" r:id="rId4"/>
    <p:sldLayoutId id="2147483709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machine-learning/introduction-to-recurrent-neural-network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lakshmi25npathi/imdb-dataset-of-50k-movie-reviews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64"/>
          <p:cNvSpPr txBox="1">
            <a:spLocks noGrp="1"/>
          </p:cNvSpPr>
          <p:nvPr>
            <p:ph type="ctrTitle"/>
          </p:nvPr>
        </p:nvSpPr>
        <p:spPr>
          <a:xfrm>
            <a:off x="713225" y="1464225"/>
            <a:ext cx="5408700" cy="284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 dirty="0">
                <a:solidFill>
                  <a:schemeClr val="lt1"/>
                </a:solidFill>
              </a:rPr>
              <a:t>Natural Language processing</a:t>
            </a:r>
            <a:endParaRPr sz="5400" dirty="0"/>
          </a:p>
        </p:txBody>
      </p:sp>
      <p:sp>
        <p:nvSpPr>
          <p:cNvPr id="365" name="Google Shape;365;p64"/>
          <p:cNvSpPr txBox="1">
            <a:spLocks noGrp="1"/>
          </p:cNvSpPr>
          <p:nvPr>
            <p:ph type="subTitle" idx="1"/>
          </p:nvPr>
        </p:nvSpPr>
        <p:spPr>
          <a:xfrm>
            <a:off x="713225" y="4010175"/>
            <a:ext cx="7717500" cy="5925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Section 6</a:t>
            </a:r>
            <a:endParaRPr dirty="0"/>
          </a:p>
        </p:txBody>
      </p:sp>
      <p:cxnSp>
        <p:nvCxnSpPr>
          <p:cNvPr id="366" name="Google Shape;366;p64"/>
          <p:cNvCxnSpPr/>
          <p:nvPr/>
        </p:nvCxnSpPr>
        <p:spPr>
          <a:xfrm>
            <a:off x="725275" y="3941474"/>
            <a:ext cx="84267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7DA06-07BF-4D5D-9B3A-E82EF9AFEB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8600" y="872327"/>
            <a:ext cx="7726800" cy="946200"/>
          </a:xfrm>
        </p:spPr>
        <p:txBody>
          <a:bodyPr/>
          <a:lstStyle/>
          <a:p>
            <a:r>
              <a:rPr lang="en-US" dirty="0"/>
              <a:t>LSTM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F2933C-0B1F-4CE7-9603-162C8ECCEED0}"/>
              </a:ext>
            </a:extLst>
          </p:cNvPr>
          <p:cNvSpPr txBox="1"/>
          <p:nvPr/>
        </p:nvSpPr>
        <p:spPr>
          <a:xfrm>
            <a:off x="708600" y="1671210"/>
            <a:ext cx="7990140" cy="1358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Long Short-Term Memory (LSTM) </a:t>
            </a:r>
            <a:r>
              <a:rPr lang="en-US" dirty="0"/>
              <a:t>is an enhanced version of the </a:t>
            </a:r>
            <a:r>
              <a:rPr lang="en-US" u="sng" dirty="0">
                <a:hlinkClick r:id="rId3"/>
              </a:rPr>
              <a:t>Recurrent Neural Network (RNN</a:t>
            </a:r>
            <a:r>
              <a:rPr lang="en-US" dirty="0">
                <a:hlinkClick r:id="rId3"/>
              </a:rPr>
              <a:t>)</a:t>
            </a:r>
            <a:r>
              <a:rPr lang="en-US" dirty="0"/>
              <a:t> , designed to solve the vanishing gradient problem.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LSTMs have special gates to control the flow of information: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273239"/>
              </a:solidFill>
              <a:effectLst/>
              <a:latin typeface="Nunito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4FDFD4-B774-538D-347E-DDCADF4E3565}"/>
              </a:ext>
            </a:extLst>
          </p:cNvPr>
          <p:cNvSpPr txBox="1"/>
          <p:nvPr/>
        </p:nvSpPr>
        <p:spPr>
          <a:xfrm>
            <a:off x="1208987" y="2793258"/>
            <a:ext cx="6396086" cy="1034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3" indent="-342900">
              <a:lnSpc>
                <a:spcPct val="150000"/>
              </a:lnSpc>
              <a:buFont typeface="+mj-lt"/>
              <a:buAutoNum type="arabicPeriod"/>
            </a:pPr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Input Gate: 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Decides what new information to store.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Forget Gate: 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Chooses what information to remove.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Output Gate: 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Decides what information to pass on.</a:t>
            </a:r>
          </a:p>
        </p:txBody>
      </p:sp>
    </p:spTree>
    <p:extLst>
      <p:ext uri="{BB962C8B-B14F-4D97-AF65-F5344CB8AC3E}">
        <p14:creationId xmlns:p14="http://schemas.microsoft.com/office/powerpoint/2010/main" val="14322255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77F6AD5-B7AD-37B0-FF15-F10653A4E7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704" y="601809"/>
            <a:ext cx="7742591" cy="3939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1115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7DA06-07BF-4D5D-9B3A-E82EF9AFEB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8600" y="488994"/>
            <a:ext cx="7726800" cy="946200"/>
          </a:xfrm>
        </p:spPr>
        <p:txBody>
          <a:bodyPr/>
          <a:lstStyle/>
          <a:p>
            <a:r>
              <a:rPr lang="en-US" dirty="0"/>
              <a:t>Dataset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F2933C-0B1F-4CE7-9603-162C8ECCEED0}"/>
              </a:ext>
            </a:extLst>
          </p:cNvPr>
          <p:cNvSpPr txBox="1"/>
          <p:nvPr/>
        </p:nvSpPr>
        <p:spPr>
          <a:xfrm>
            <a:off x="708600" y="1435194"/>
            <a:ext cx="7990140" cy="9254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US" b="1" dirty="0"/>
              <a:t>IMDB Dataset of 50K Movie Reviews 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from Kaggle.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273239"/>
                </a:solidFill>
                <a:latin typeface="Nunito" pitchFamily="2" charset="0"/>
                <a:hlinkClick r:id="rId3"/>
              </a:rPr>
              <a:t>https://www.kaggle.com/datasets/lakshmi25npathi/imdb-dataset-of-50k-movie-reviews</a:t>
            </a:r>
            <a:endParaRPr lang="en-US" b="0" i="0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This is a dataset for binary sentiment classification</a:t>
            </a:r>
            <a:r>
              <a:rPr lang="ar-EG" dirty="0"/>
              <a:t> </a:t>
            </a:r>
            <a:r>
              <a:rPr lang="en-US" dirty="0"/>
              <a:t> with 2 labels positive and negative</a:t>
            </a:r>
            <a:endParaRPr lang="en-US" b="0" i="0" dirty="0">
              <a:solidFill>
                <a:srgbClr val="273239"/>
              </a:solidFill>
              <a:effectLst/>
              <a:latin typeface="Nunito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55DEE9-1E4D-9D22-BFAF-4B4AD8A17E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2804" y="2401828"/>
            <a:ext cx="5898391" cy="3810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29889F9-B2F0-CF2A-20FB-20155FF2985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1150" b="42447"/>
          <a:stretch>
            <a:fillRect/>
          </a:stretch>
        </p:blipFill>
        <p:spPr>
          <a:xfrm>
            <a:off x="2428903" y="2894900"/>
            <a:ext cx="4549534" cy="1944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752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D7DBBFD-1025-4C1D-A3A4-DEA2698A868B}"/>
              </a:ext>
            </a:extLst>
          </p:cNvPr>
          <p:cNvSpPr txBox="1"/>
          <p:nvPr/>
        </p:nvSpPr>
        <p:spPr>
          <a:xfrm>
            <a:off x="417921" y="1292373"/>
            <a:ext cx="31747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Nunito" pitchFamily="2" charset="0"/>
              </a:rPr>
              <a:t>1-Import necessary libraries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521A46-F638-CEEC-8125-579C3BD39D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077" y="1840488"/>
            <a:ext cx="6699733" cy="1891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6764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D7DBBFD-1025-4C1D-A3A4-DEA2698A868B}"/>
              </a:ext>
            </a:extLst>
          </p:cNvPr>
          <p:cNvSpPr txBox="1"/>
          <p:nvPr/>
        </p:nvSpPr>
        <p:spPr>
          <a:xfrm>
            <a:off x="417920" y="1292373"/>
            <a:ext cx="80581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Nunito" pitchFamily="2" charset="0"/>
              </a:rPr>
              <a:t>2- Load &amp; Prepare Data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04B707-C8EE-AD0C-E417-6AADB9A7BF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021" y="1737304"/>
            <a:ext cx="7642247" cy="1668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1199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D7DBBFD-1025-4C1D-A3A4-DEA2698A868B}"/>
              </a:ext>
            </a:extLst>
          </p:cNvPr>
          <p:cNvSpPr txBox="1"/>
          <p:nvPr/>
        </p:nvSpPr>
        <p:spPr>
          <a:xfrm>
            <a:off x="409333" y="972095"/>
            <a:ext cx="80581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Nunito" pitchFamily="2" charset="0"/>
              </a:rPr>
              <a:t>3- Model Parameters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2E7C38-79E8-4B86-DD29-63A24FCFEA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891" y="1673064"/>
            <a:ext cx="7160611" cy="1258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0334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D7DBBFD-1025-4C1D-A3A4-DEA2698A868B}"/>
              </a:ext>
            </a:extLst>
          </p:cNvPr>
          <p:cNvSpPr txBox="1"/>
          <p:nvPr/>
        </p:nvSpPr>
        <p:spPr>
          <a:xfrm>
            <a:off x="402017" y="672172"/>
            <a:ext cx="805816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Nunito" pitchFamily="2" charset="0"/>
              </a:rPr>
              <a:t>4- </a:t>
            </a:r>
            <a:r>
              <a:rPr lang="en-US" b="1" dirty="0"/>
              <a:t>Tokenization &amp; Padding</a:t>
            </a:r>
          </a:p>
          <a:p>
            <a:endParaRPr lang="en-US" b="1" dirty="0">
              <a:latin typeface="Nunito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D904D0-31AA-8DB2-D5F0-D0E5166007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058" y="1431716"/>
            <a:ext cx="7086095" cy="1966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0523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D7DBBFD-1025-4C1D-A3A4-DEA2698A868B}"/>
              </a:ext>
            </a:extLst>
          </p:cNvPr>
          <p:cNvSpPr txBox="1"/>
          <p:nvPr/>
        </p:nvSpPr>
        <p:spPr>
          <a:xfrm>
            <a:off x="439087" y="993448"/>
            <a:ext cx="80581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Nunito" pitchFamily="2" charset="0"/>
              </a:rPr>
              <a:t>5- Train-Test Split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0D0112-B81C-619D-A25F-19106D79B1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093" y="1823609"/>
            <a:ext cx="7015085" cy="1040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4770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D7DBBFD-1025-4C1D-A3A4-DEA2698A868B}"/>
              </a:ext>
            </a:extLst>
          </p:cNvPr>
          <p:cNvSpPr txBox="1"/>
          <p:nvPr/>
        </p:nvSpPr>
        <p:spPr>
          <a:xfrm>
            <a:off x="402017" y="672172"/>
            <a:ext cx="80581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Nunito" pitchFamily="2" charset="0"/>
              </a:rPr>
              <a:t>6- </a:t>
            </a:r>
            <a:r>
              <a:rPr lang="en-US" b="1" dirty="0"/>
              <a:t>Build LSTM Model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BC77A5-CC51-1827-D792-D48E51FAE9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807" y="1337456"/>
            <a:ext cx="7208379" cy="1529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2260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D7DBBFD-1025-4C1D-A3A4-DEA2698A868B}"/>
              </a:ext>
            </a:extLst>
          </p:cNvPr>
          <p:cNvSpPr txBox="1"/>
          <p:nvPr/>
        </p:nvSpPr>
        <p:spPr>
          <a:xfrm>
            <a:off x="542915" y="577686"/>
            <a:ext cx="80581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EG" b="1" dirty="0">
                <a:latin typeface="Nunito" pitchFamily="2" charset="0"/>
              </a:rPr>
              <a:t>7</a:t>
            </a:r>
            <a:r>
              <a:rPr lang="en-US" b="1" dirty="0">
                <a:latin typeface="Nunito" pitchFamily="2" charset="0"/>
              </a:rPr>
              <a:t>-Compile &amp; Train the model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55752D-5968-349F-AAE2-42E84B56ED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538" y="969518"/>
            <a:ext cx="7673546" cy="3596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6352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D7DBBFD-1025-4C1D-A3A4-DEA2698A868B}"/>
              </a:ext>
            </a:extLst>
          </p:cNvPr>
          <p:cNvSpPr txBox="1"/>
          <p:nvPr/>
        </p:nvSpPr>
        <p:spPr>
          <a:xfrm>
            <a:off x="336183" y="2488090"/>
            <a:ext cx="16914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Nunito" pitchFamily="2" charset="0"/>
              </a:rPr>
              <a:t>8-Test accuracy and predicting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A335C1-8AF4-C0AA-17F9-60D37359BD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041" y="2101213"/>
            <a:ext cx="5883150" cy="91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9812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CA3451C-9DFB-4D62-582E-47B11FD522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0901"/>
          <a:stretch>
            <a:fillRect/>
          </a:stretch>
        </p:blipFill>
        <p:spPr>
          <a:xfrm>
            <a:off x="373875" y="670395"/>
            <a:ext cx="4494688" cy="380271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610E864-FDA8-1F67-0C80-2433DB5077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8563" y="1241945"/>
            <a:ext cx="4077053" cy="2659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4997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79"/>
          <p:cNvSpPr txBox="1">
            <a:spLocks noGrp="1"/>
          </p:cNvSpPr>
          <p:nvPr>
            <p:ph type="title"/>
          </p:nvPr>
        </p:nvSpPr>
        <p:spPr>
          <a:xfrm>
            <a:off x="757746" y="3228721"/>
            <a:ext cx="6143100" cy="25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chemeClr val="lt1"/>
                </a:solidFill>
              </a:rPr>
              <a:t>S</a:t>
            </a:r>
            <a:r>
              <a:rPr lang="en" sz="3600" dirty="0">
                <a:solidFill>
                  <a:schemeClr val="lt1"/>
                </a:solidFill>
              </a:rPr>
              <a:t>ee you soon</a:t>
            </a:r>
            <a:endParaRPr sz="3600" dirty="0"/>
          </a:p>
        </p:txBody>
      </p:sp>
      <p:cxnSp>
        <p:nvCxnSpPr>
          <p:cNvPr id="598" name="Google Shape;598;p79"/>
          <p:cNvCxnSpPr>
            <a:cxnSpLocks/>
          </p:cNvCxnSpPr>
          <p:nvPr/>
        </p:nvCxnSpPr>
        <p:spPr>
          <a:xfrm>
            <a:off x="8192475" y="430025"/>
            <a:ext cx="9696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9" name="Google Shape;599;p79"/>
          <p:cNvCxnSpPr/>
          <p:nvPr/>
        </p:nvCxnSpPr>
        <p:spPr>
          <a:xfrm>
            <a:off x="814250" y="3915100"/>
            <a:ext cx="83376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Technology Consulting Toolkit by Slidesgo">
  <a:themeElements>
    <a:clrScheme name="Simple Light">
      <a:dk1>
        <a:srgbClr val="212121"/>
      </a:dk1>
      <a:lt1>
        <a:srgbClr val="305C54"/>
      </a:lt1>
      <a:dk2>
        <a:srgbClr val="93E6D3"/>
      </a:dk2>
      <a:lt2>
        <a:srgbClr val="F3F3F3"/>
      </a:lt2>
      <a:accent1>
        <a:srgbClr val="44D4B4"/>
      </a:accent1>
      <a:accent2>
        <a:srgbClr val="4C9484"/>
      </a:accent2>
      <a:accent3>
        <a:srgbClr val="B8B9C0"/>
      </a:accent3>
      <a:accent4>
        <a:srgbClr val="FFFFFF"/>
      </a:accent4>
      <a:accent5>
        <a:srgbClr val="FFFFFF"/>
      </a:accent5>
      <a:accent6>
        <a:srgbClr val="FFFFFF"/>
      </a:accent6>
      <a:hlink>
        <a:srgbClr val="21212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3989</TotalTime>
  <Words>146</Words>
  <Application>Microsoft Office PowerPoint</Application>
  <PresentationFormat>On-screen Show (16:9)</PresentationFormat>
  <Paragraphs>21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Nunito</vt:lpstr>
      <vt:lpstr>Inconsolata</vt:lpstr>
      <vt:lpstr>Open Sans</vt:lpstr>
      <vt:lpstr>Arial</vt:lpstr>
      <vt:lpstr>Technology Consulting Toolkit by Slidesgo</vt:lpstr>
      <vt:lpstr>Natural Language processing</vt:lpstr>
      <vt:lpstr>LSTM </vt:lpstr>
      <vt:lpstr>PowerPoint Presentation</vt:lpstr>
      <vt:lpstr>Dataset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See you soon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Natural Language processing</dc:title>
  <dc:creator>maya hesham</dc:creator>
  <cp:lastModifiedBy>Nada SharafEl-Din</cp:lastModifiedBy>
  <cp:revision>29</cp:revision>
  <dcterms:modified xsi:type="dcterms:W3CDTF">2026-03-30T17:54:47Z</dcterms:modified>
</cp:coreProperties>
</file>